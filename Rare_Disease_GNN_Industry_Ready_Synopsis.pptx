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70" r:id="rId15"/>
    <p:sldId id="268" r:id="rId16"/>
    <p:sldId id="269" r:id="rId17"/>
    <p:sldId id="271" r:id="rId18"/>
    <p:sldId id="256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0" y="-3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234440"/>
            <a:ext cx="20715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Forgiving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0">
                <a:solidFill>
                  <a:srgbClr val="BED2EB"/>
                </a:solidFill>
                <a:latin typeface="Aptos"/>
              </a:defRPr>
            </a:pPr>
            <a:r>
              <a:t>Explainable Graph AI for genomic disease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Patient-specific evidence • biological pathway tracing • research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59" y="4272480"/>
            <a:ext cx="3566160" cy="530352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33231" y="4306824"/>
            <a:ext cx="15456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n-US" sz="1200" dirty="0">
                <a:latin typeface="Palatino Linotype" panose="02040502050505030304" pitchFamily="18" charset="0"/>
              </a:rPr>
              <a:t>Aishwarya Pandey </a:t>
            </a:r>
            <a:br>
              <a:rPr lang="en-US" sz="1200" dirty="0">
                <a:latin typeface="Palatino Linotype" panose="02040502050505030304" pitchFamily="18" charset="0"/>
              </a:rPr>
            </a:br>
            <a:r>
              <a:rPr lang="en-US" sz="1200" dirty="0">
                <a:latin typeface="Palatino Linotype" panose="02040502050505030304" pitchFamily="18" charset="0"/>
              </a:rPr>
              <a:t>22515500005</a:t>
            </a:r>
            <a:endParaRPr sz="1200" dirty="0">
              <a:latin typeface="Palatino Linotype" panose="0204050205050503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ED2EB"/>
                </a:solidFill>
                <a:latin typeface="Aptos"/>
              </a:defRPr>
            </a:pPr>
            <a:r>
              <a:t>Industry-oriented project synopsis • Proposed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The Clinical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Rare and complex disorders can involve multiple interacting biological mechanisms.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 mutation or symptom in isolation rarely explains the complete disease mechanism.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Non-coding variants are particularly challenging because their effects may be regulatory rather than directly protein-altering.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key gap is not only prediction—it is understanding the biological evidence connecting patient data to a candidate disease.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Product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 hospital-facing decision-support platform that converts complex genomic information into an interpretable biological investigation.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platform answers: Which disease candidates deserve clinical attention?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It also answers: What evidence-based biological path supports each candidate?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Physicians remain the final decision-makers; the system provides ranked evidence, not an autonomous diagnosis.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Target Users &amp;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Primary users: doctors, geneticists and hospital diagnostic teams.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Input: genetic reports, variants, phenotypes/symptoms and available molecular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Prioritize rare-disease candidates in difficult 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Inspect the molecular path connecting a variant to disease-relevant biology.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Future users: researchers, pharmaceutical teams and rare-disease scientists.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63EB"/>
                </a:solidFill>
                <a:latin typeface="Aptos"/>
              </a:defRPr>
            </a:pPr>
            <a:r>
              <a:t>DATA INGESTION → Genetic reports, variants, phenotype/symptom data, RNA, miRNA, epigenetic/protein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9424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63EB"/>
                </a:solidFill>
                <a:latin typeface="Aptos"/>
              </a:defRPr>
            </a:pPr>
            <a:r>
              <a:t>PATIENT GRAPH → Patient-specific nodes and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71216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63EB"/>
                </a:solidFill>
                <a:latin typeface="Aptos"/>
              </a:defRPr>
            </a:pPr>
            <a:r>
              <a:t>BIOLOGICAL KNOWLEDGE LAYER → PrimeKG + complementary evidence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93008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63EB"/>
                </a:solidFill>
                <a:latin typeface="Aptos"/>
              </a:defRPr>
            </a:pPr>
            <a:r>
              <a:t>HETEROGENEOUS GNN → Multi-hop message passing across biological entity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463EB"/>
                </a:solidFill>
                <a:latin typeface="Aptos"/>
              </a:defRPr>
            </a:pPr>
            <a:r>
              <a:t>OUTPUT → Disease ranking + evidence paths + explainability + research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Patient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patient graph represents observed evidence for one individual.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Core entities: genetic variants/genotype; phenotypes and symptoms; RNA and miRNA; epigenetic/chromatin information; protein/pathway information when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graph remains extensible as new patient modalities become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PrimeKG as the Biological Backbone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PrimeKG provides a large biomedical knowledge graph covering established relationships across diseases, genes, proteins, pathways, phenotypes and anatomy.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It answers: “What biological relationships are already known?”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patient graph answers: “What is observed in this patient?”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GNN operates over the combined evidence rather than an isolated feature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Why a Heterogeneous GNN?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problem contains multiple node types and relationship 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 flat feature vector can lose the structure of biological interactions.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 heterogeneous GNN can preserve relationships such as Variant → gene/regulatory region, Gene → RNA/protein, Protein → pathway, and Disease → phenotype.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exact architecture will be selected after benchmarking suitable GNN families.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Non-Coding Variant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Initial research focus: non-coding variants and regulatory mechanisms.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 non-coding variant may influence regulation, chromatin state, transcription or RNA-level processes.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system therefore extends analysis beyond a simple coding-variant → protein assumption.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Objective: prioritize plausible regulatory mechanisms and connect them to downstream disease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8001B07-9651-113C-86A9-504CA96821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920352"/>
              </p:ext>
            </p:extLst>
          </p:nvPr>
        </p:nvGraphicFramePr>
        <p:xfrm>
          <a:off x="835742" y="1"/>
          <a:ext cx="9478297" cy="6735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22037040" imgH="22036993" progId="AcroExch.Document.DC">
                  <p:embed/>
                </p:oleObj>
              </mc:Choice>
              <mc:Fallback>
                <p:oleObj name="Acrobat Document" r:id="rId2" imgW="22037040" imgH="22036993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5742" y="1"/>
                        <a:ext cx="9478297" cy="6735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9056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Evidence-Based Disease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8365239" cy="1923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rPr dirty="0"/>
              <a:t>• The disease score is not the end product—the supporting path is</a:t>
            </a: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>
              <a:defRPr sz="1700" b="0">
                <a:solidFill>
                  <a:srgbClr val="525E6D"/>
                </a:solidFill>
                <a:latin typeface="Aptos"/>
              </a:defRPr>
            </a:pPr>
            <a:r>
              <a:rPr lang="en-US" dirty="0"/>
              <a:t>• Each relationship should be labeled by evidence type and confidence where available.</a:t>
            </a:r>
          </a:p>
          <a:p>
            <a:pPr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>
              <a:defRPr sz="1700" b="0">
                <a:solidFill>
                  <a:srgbClr val="525E6D"/>
                </a:solidFill>
                <a:latin typeface="Aptos"/>
              </a:defRPr>
            </a:pPr>
            <a:r>
              <a:rPr lang="en-US" dirty="0"/>
              <a:t>• The path is designed for physician inspection rather than black-box acceptance.</a:t>
            </a:r>
          </a:p>
          <a:p>
            <a:pPr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Clinical Explainability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Show which variants, genes, phenotypes and molecular features influenced a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Expose influential nodes, relationships and disease-relevant pathways.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Use appropriate methods such as SHAP where applicable, together with graph-specific explanation techniques.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Goal: enable physician review and investigation of the model’s reasoning.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Disease Ranking &amp; Research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Return a ranked candidate list rather than a single forced diagnosis.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High-priority candidates receive detailed evidence paths; lower-ranked candidates remain inspectable.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If an unusual path has meaningful biological similarity but no established disease match, flag it as a Potential Research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 research signal is a hypothesis for investigation—not a claim of a newly discovered disease.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1 — Knowledge foundation: PrimeKG exploration, schema mapping and identifier normalization.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2 — Patient data: acquire compatible, de-identified/public cohorts with known diagnoses.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3 — Graph construction: build patient graphs and connect them to the knowledge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4 — Modeling: benchmark heterogeneous GNN architectures and train disease-ranking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5 — Explainability: generate evidence subgraphs and assess biological consistency.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793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PHASE 6 — Product prototype: build the doctor-facing dashboard and end-to-end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Doctor-Centric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Upload/enter patient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Review extracted variants and phenotypes.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View ranked disease candidates.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Select a candidate to open its Evidence-Based Disease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Inspect supporting nodes, relationships and evidence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793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Review uncertainty and missing data before further clinical investigation.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Validation &amp; Trust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Medical AI requires more than a high headline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Evaluate disease-ranking performance on held-out patients.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Evaluate calibration, uncertainty and robustness to missing modalities.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Evaluate explainability consistency and biological plausibility of retrieved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Where feasible, use independent cohorts for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793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Clinical deployment would require substantially stronger validation, governance, privacy and regulatory review than a prototype.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Innovation &amp; Industry 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Prediction + biological investigation rather than prediction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Patient-specific graph reasoning combined with a large biomedical knowledge 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Explicit focus on non-coding and regulatory mechanisms.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Explainability designed around biological paths, not only feature importance.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Research-signal capability for poorly characterized mechanisms.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793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Extensible architecture for additional omics modalities and evidence sources.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Problem: complex patients may present symptoms and variants without a clear mechanistic explanation.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Approach: connect patient-specific molecular evidence with a curated biomedical knowledge 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AI layer: heterogeneous GNN learns disease-relevant patterns across biological entities and relationships.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Output: ranked disease candidates plus an Evidence-Based Disease Path for physician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Long-term value: clinical decision support today; research discovery tomorrow.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Future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Clinical layer: physician-facing disease prioritization and evidence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Research layer: mutation/pathway investigation and hypothesis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Data layer: additional omics, epigenomics and longitudinal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186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AI layer: improved graph learning, uncertainty estimation and mechanistic modeling.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Enterprise layer: secure integration, auditability, privacy controls and validated clinical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41F3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685800" cy="54864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5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The core proposition: “Do not stop at predicting the disease. Show the biological evidence path that makes the disease worth investigating.”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57984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First objective: a credible, explainable prototype for physician decision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8833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525E6D"/>
                </a:solidFill>
                <a:latin typeface="Aptos"/>
              </a:defRPr>
            </a:pPr>
            <a:r>
              <a:t>• Long-term objective: a research and healthcare platform for difficult, rare and poorly understood disease mechanisms.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25E6D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1224</Words>
  <Application>Microsoft Office PowerPoint</Application>
  <PresentationFormat>Widescreen</PresentationFormat>
  <Paragraphs>124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Palatino Linotype</vt:lpstr>
      <vt:lpstr>Office Theme</vt:lpstr>
      <vt:lpstr>Adobe 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AISHWARYA PANDEY</cp:lastModifiedBy>
  <cp:revision>2</cp:revision>
  <dcterms:created xsi:type="dcterms:W3CDTF">2013-01-27T09:14:16Z</dcterms:created>
  <dcterms:modified xsi:type="dcterms:W3CDTF">2026-08-20T09:58:15Z</dcterms:modified>
  <cp:category/>
</cp:coreProperties>
</file>